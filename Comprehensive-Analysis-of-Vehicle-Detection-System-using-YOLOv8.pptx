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Alice" panose="020B0604020202020204" charset="0"/>
      <p:regular r:id="rId12"/>
    </p:embeddedFont>
    <p:embeddedFont>
      <p:font typeface="Lora"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51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29941"/>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Comprehensive Analysis of Vehicle Detection System using YOLOv8</a:t>
            </a:r>
            <a:endParaRPr lang="en-US" sz="4450" dirty="0"/>
          </a:p>
        </p:txBody>
      </p:sp>
      <p:sp>
        <p:nvSpPr>
          <p:cNvPr id="4" name="Text 1"/>
          <p:cNvSpPr/>
          <p:nvPr/>
        </p:nvSpPr>
        <p:spPr>
          <a:xfrm>
            <a:off x="6280190" y="3896439"/>
            <a:ext cx="7556421" cy="2903220"/>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This project provides a detailed analysis of the vehicle detection system implemented using the YOLOv8 architecture. The project aims to detect and classify various types of vehicles in traffic scenarios, including cars, trucks, bikes, rickshaws, vans, taxis, and other vehicle categories. By utilizing advanced object detection techniques and custom data augmentation methods, this system demonstrates significant potential for real-world applications in traffic monitoring, autonomous driving, and urban planning.</a:t>
            </a:r>
            <a:endParaRPr lang="en-US" sz="1750" dirty="0"/>
          </a:p>
        </p:txBody>
      </p:sp>
      <p:sp>
        <p:nvSpPr>
          <p:cNvPr id="5" name="Rectangle 4">
            <a:extLst>
              <a:ext uri="{FF2B5EF4-FFF2-40B4-BE49-F238E27FC236}">
                <a16:creationId xmlns:a16="http://schemas.microsoft.com/office/drawing/2014/main" id="{8607E8E7-66A3-20C7-69FF-F71FBDA744A0}"/>
              </a:ext>
            </a:extLst>
          </p:cNvPr>
          <p:cNvSpPr/>
          <p:nvPr/>
        </p:nvSpPr>
        <p:spPr>
          <a:xfrm>
            <a:off x="12852971" y="7726166"/>
            <a:ext cx="1705510" cy="4006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95607"/>
            <a:ext cx="9600605"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Dataset Management and Preparation</a:t>
            </a:r>
            <a:endParaRPr lang="en-US" sz="4450" dirty="0"/>
          </a:p>
        </p:txBody>
      </p:sp>
      <p:sp>
        <p:nvSpPr>
          <p:cNvPr id="3" name="Text 1"/>
          <p:cNvSpPr/>
          <p:nvPr/>
        </p:nvSpPr>
        <p:spPr>
          <a:xfrm>
            <a:off x="793790" y="32713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33E32"/>
                </a:solidFill>
                <a:latin typeface="Alice" pitchFamily="34" charset="0"/>
                <a:ea typeface="Alice" pitchFamily="34" charset="-122"/>
                <a:cs typeface="Alice" pitchFamily="34" charset="-120"/>
              </a:rPr>
              <a:t>Dataset Composition</a:t>
            </a:r>
            <a:endParaRPr lang="en-US" sz="2200" dirty="0"/>
          </a:p>
        </p:txBody>
      </p:sp>
      <p:sp>
        <p:nvSpPr>
          <p:cNvPr id="4" name="Text 2"/>
          <p:cNvSpPr/>
          <p:nvPr/>
        </p:nvSpPr>
        <p:spPr>
          <a:xfrm>
            <a:off x="793790" y="3852505"/>
            <a:ext cx="6244709" cy="217741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The dataset consists of traffic scenes captured from various perspectives, including dashboard camera footage with timestamp overlays, street-level views capturing diverse traffic patterns, varied lighting conditions, multiple camera angles and distances, and urban road environments with different densities of traffic.</a:t>
            </a:r>
            <a:endParaRPr lang="en-US" sz="1750" dirty="0"/>
          </a:p>
        </p:txBody>
      </p:sp>
      <p:sp>
        <p:nvSpPr>
          <p:cNvPr id="5" name="Text 3"/>
          <p:cNvSpPr/>
          <p:nvPr/>
        </p:nvSpPr>
        <p:spPr>
          <a:xfrm>
            <a:off x="7599521" y="3271361"/>
            <a:ext cx="2889528" cy="354330"/>
          </a:xfrm>
          <a:prstGeom prst="rect">
            <a:avLst/>
          </a:prstGeom>
          <a:noFill/>
          <a:ln/>
        </p:spPr>
        <p:txBody>
          <a:bodyPr wrap="none" lIns="0" tIns="0" rIns="0" bIns="0" rtlCol="0" anchor="t"/>
          <a:lstStyle/>
          <a:p>
            <a:pPr marL="0" indent="0" algn="l">
              <a:lnSpc>
                <a:spcPts val="2750"/>
              </a:lnSpc>
              <a:buNone/>
            </a:pPr>
            <a:r>
              <a:rPr lang="en-US" sz="2200" dirty="0">
                <a:solidFill>
                  <a:srgbClr val="233E32"/>
                </a:solidFill>
                <a:latin typeface="Alice" pitchFamily="34" charset="0"/>
                <a:ea typeface="Alice" pitchFamily="34" charset="-122"/>
                <a:cs typeface="Alice" pitchFamily="34" charset="-120"/>
              </a:rPr>
              <a:t>Data Splitting Strategy</a:t>
            </a:r>
            <a:endParaRPr lang="en-US" sz="2200" dirty="0"/>
          </a:p>
        </p:txBody>
      </p:sp>
      <p:sp>
        <p:nvSpPr>
          <p:cNvPr id="6" name="Text 4"/>
          <p:cNvSpPr/>
          <p:nvPr/>
        </p:nvSpPr>
        <p:spPr>
          <a:xfrm>
            <a:off x="7599521" y="3852505"/>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The implementation uses a validation split approach to separate the dataset into training and validation sets. A 7% validation split was used to maximize training data and computational efficiency.</a:t>
            </a:r>
            <a:endParaRPr lang="en-US" sz="1750" dirty="0"/>
          </a:p>
        </p:txBody>
      </p:sp>
      <p:sp>
        <p:nvSpPr>
          <p:cNvPr id="7" name="Rectangle 6">
            <a:extLst>
              <a:ext uri="{FF2B5EF4-FFF2-40B4-BE49-F238E27FC236}">
                <a16:creationId xmlns:a16="http://schemas.microsoft.com/office/drawing/2014/main" id="{EC2CF2A3-99DC-9111-838D-53F3ACB4F6E9}"/>
              </a:ext>
            </a:extLst>
          </p:cNvPr>
          <p:cNvSpPr/>
          <p:nvPr/>
        </p:nvSpPr>
        <p:spPr>
          <a:xfrm>
            <a:off x="12852971" y="7726166"/>
            <a:ext cx="1705510" cy="4006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1200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Data Augmentation: Cut-Paste Technique</a:t>
            </a:r>
            <a:endParaRPr lang="en-US" sz="4450" dirty="0"/>
          </a:p>
        </p:txBody>
      </p:sp>
      <p:sp>
        <p:nvSpPr>
          <p:cNvPr id="4" name="Shape 1"/>
          <p:cNvSpPr/>
          <p:nvPr/>
        </p:nvSpPr>
        <p:spPr>
          <a:xfrm>
            <a:off x="793790" y="2569726"/>
            <a:ext cx="510302" cy="510302"/>
          </a:xfrm>
          <a:prstGeom prst="roundRect">
            <a:avLst>
              <a:gd name="adj" fmla="val 6667"/>
            </a:avLst>
          </a:prstGeom>
          <a:solidFill>
            <a:srgbClr val="F0EDE6"/>
          </a:solidFill>
          <a:ln/>
        </p:spPr>
      </p:sp>
      <p:pic>
        <p:nvPicPr>
          <p:cNvPr id="5" name="Image 1" descr="preencoded.png"/>
          <p:cNvPicPr>
            <a:picLocks noChangeAspect="1"/>
          </p:cNvPicPr>
          <p:nvPr/>
        </p:nvPicPr>
        <p:blipFill>
          <a:blip r:embed="rId4"/>
          <a:stretch>
            <a:fillRect/>
          </a:stretch>
        </p:blipFill>
        <p:spPr>
          <a:xfrm>
            <a:off x="878860" y="2612231"/>
            <a:ext cx="340162" cy="425291"/>
          </a:xfrm>
          <a:prstGeom prst="rect">
            <a:avLst/>
          </a:prstGeom>
        </p:spPr>
      </p:pic>
      <p:sp>
        <p:nvSpPr>
          <p:cNvPr id="6" name="Text 2"/>
          <p:cNvSpPr/>
          <p:nvPr/>
        </p:nvSpPr>
        <p:spPr>
          <a:xfrm>
            <a:off x="1530906" y="2647593"/>
            <a:ext cx="2899410" cy="708660"/>
          </a:xfrm>
          <a:prstGeom prst="rect">
            <a:avLst/>
          </a:prstGeom>
          <a:noFill/>
          <a:ln/>
        </p:spPr>
        <p:txBody>
          <a:bodyPr wrap="squar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Class Imbalance Mitigation</a:t>
            </a:r>
            <a:endParaRPr lang="en-US" sz="2200" dirty="0"/>
          </a:p>
        </p:txBody>
      </p:sp>
      <p:sp>
        <p:nvSpPr>
          <p:cNvPr id="7" name="Text 3"/>
          <p:cNvSpPr/>
          <p:nvPr/>
        </p:nvSpPr>
        <p:spPr>
          <a:xfrm>
            <a:off x="1530906" y="3492341"/>
            <a:ext cx="2899410" cy="217741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Allows for selective augmentation of underrepresented vehicle classes, improving model performance on rare vehicle types.</a:t>
            </a:r>
            <a:endParaRPr lang="en-US" sz="1750" dirty="0"/>
          </a:p>
        </p:txBody>
      </p:sp>
      <p:sp>
        <p:nvSpPr>
          <p:cNvPr id="8" name="Shape 4"/>
          <p:cNvSpPr/>
          <p:nvPr/>
        </p:nvSpPr>
        <p:spPr>
          <a:xfrm>
            <a:off x="4713803" y="2569726"/>
            <a:ext cx="510302" cy="510302"/>
          </a:xfrm>
          <a:prstGeom prst="roundRect">
            <a:avLst>
              <a:gd name="adj" fmla="val 6667"/>
            </a:avLst>
          </a:prstGeom>
          <a:solidFill>
            <a:srgbClr val="F0EDE6"/>
          </a:solidFill>
          <a:ln/>
        </p:spPr>
      </p:sp>
      <p:pic>
        <p:nvPicPr>
          <p:cNvPr id="9" name="Image 2" descr="preencoded.png"/>
          <p:cNvPicPr>
            <a:picLocks noChangeAspect="1"/>
          </p:cNvPicPr>
          <p:nvPr/>
        </p:nvPicPr>
        <p:blipFill>
          <a:blip r:embed="rId5"/>
          <a:stretch>
            <a:fillRect/>
          </a:stretch>
        </p:blipFill>
        <p:spPr>
          <a:xfrm>
            <a:off x="4798874" y="2612231"/>
            <a:ext cx="340162" cy="425291"/>
          </a:xfrm>
          <a:prstGeom prst="rect">
            <a:avLst/>
          </a:prstGeom>
        </p:spPr>
      </p:pic>
      <p:sp>
        <p:nvSpPr>
          <p:cNvPr id="10" name="Text 5"/>
          <p:cNvSpPr/>
          <p:nvPr/>
        </p:nvSpPr>
        <p:spPr>
          <a:xfrm>
            <a:off x="5450919" y="26475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Contextual Learning</a:t>
            </a:r>
            <a:endParaRPr lang="en-US" sz="2200" dirty="0"/>
          </a:p>
        </p:txBody>
      </p:sp>
      <p:sp>
        <p:nvSpPr>
          <p:cNvPr id="11" name="Text 6"/>
          <p:cNvSpPr/>
          <p:nvPr/>
        </p:nvSpPr>
        <p:spPr>
          <a:xfrm>
            <a:off x="5450919" y="3138011"/>
            <a:ext cx="2899410" cy="1814513"/>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By placing vehicle objects in various positions and scenes, the model learns to identify vehicles in diverse contexts.</a:t>
            </a:r>
            <a:endParaRPr lang="en-US" sz="1750" dirty="0"/>
          </a:p>
        </p:txBody>
      </p:sp>
      <p:sp>
        <p:nvSpPr>
          <p:cNvPr id="12" name="Shape 7"/>
          <p:cNvSpPr/>
          <p:nvPr/>
        </p:nvSpPr>
        <p:spPr>
          <a:xfrm>
            <a:off x="793790" y="6123384"/>
            <a:ext cx="510302" cy="510302"/>
          </a:xfrm>
          <a:prstGeom prst="roundRect">
            <a:avLst>
              <a:gd name="adj" fmla="val 6667"/>
            </a:avLst>
          </a:prstGeom>
          <a:solidFill>
            <a:srgbClr val="F0EDE6"/>
          </a:solidFill>
          <a:ln/>
        </p:spPr>
      </p:sp>
      <p:pic>
        <p:nvPicPr>
          <p:cNvPr id="13" name="Image 3" descr="preencoded.png"/>
          <p:cNvPicPr>
            <a:picLocks noChangeAspect="1"/>
          </p:cNvPicPr>
          <p:nvPr/>
        </p:nvPicPr>
        <p:blipFill>
          <a:blip r:embed="rId6"/>
          <a:stretch>
            <a:fillRect/>
          </a:stretch>
        </p:blipFill>
        <p:spPr>
          <a:xfrm>
            <a:off x="878860" y="6165890"/>
            <a:ext cx="340162" cy="425291"/>
          </a:xfrm>
          <a:prstGeom prst="rect">
            <a:avLst/>
          </a:prstGeom>
        </p:spPr>
      </p:pic>
      <p:sp>
        <p:nvSpPr>
          <p:cNvPr id="14" name="Text 8"/>
          <p:cNvSpPr/>
          <p:nvPr/>
        </p:nvSpPr>
        <p:spPr>
          <a:xfrm>
            <a:off x="1530906" y="620125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Occlusion Handling</a:t>
            </a:r>
            <a:endParaRPr lang="en-US" sz="2200" dirty="0"/>
          </a:p>
        </p:txBody>
      </p:sp>
      <p:sp>
        <p:nvSpPr>
          <p:cNvPr id="15" name="Text 9"/>
          <p:cNvSpPr/>
          <p:nvPr/>
        </p:nvSpPr>
        <p:spPr>
          <a:xfrm>
            <a:off x="1530906" y="6691670"/>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The technique can simulate partial occlusions, improving the model's ability to detect partially visible vehicles.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50425"/>
          </a:xfrm>
          <a:prstGeom prst="rect">
            <a:avLst/>
          </a:prstGeom>
        </p:spPr>
      </p:pic>
      <p:sp>
        <p:nvSpPr>
          <p:cNvPr id="3" name="Text 0"/>
          <p:cNvSpPr/>
          <p:nvPr/>
        </p:nvSpPr>
        <p:spPr>
          <a:xfrm>
            <a:off x="686038" y="2989421"/>
            <a:ext cx="10146268" cy="612577"/>
          </a:xfrm>
          <a:prstGeom prst="rect">
            <a:avLst/>
          </a:prstGeom>
          <a:noFill/>
          <a:ln/>
        </p:spPr>
        <p:txBody>
          <a:bodyPr wrap="none" lIns="0" tIns="0" rIns="0" bIns="0" rtlCol="0" anchor="t"/>
          <a:lstStyle/>
          <a:p>
            <a:pPr marL="0" indent="0" algn="l">
              <a:lnSpc>
                <a:spcPts val="4800"/>
              </a:lnSpc>
              <a:buNone/>
            </a:pPr>
            <a:r>
              <a:rPr lang="en-US" sz="3850" dirty="0">
                <a:solidFill>
                  <a:srgbClr val="233E32"/>
                </a:solidFill>
                <a:latin typeface="Alice" pitchFamily="34" charset="0"/>
                <a:ea typeface="Alice" pitchFamily="34" charset="-122"/>
                <a:cs typeface="Alice" pitchFamily="34" charset="-120"/>
              </a:rPr>
              <a:t>Technical Details and Implementation Choices</a:t>
            </a:r>
            <a:endParaRPr lang="en-US" sz="3850" dirty="0"/>
          </a:p>
        </p:txBody>
      </p:sp>
      <p:pic>
        <p:nvPicPr>
          <p:cNvPr id="4" name="Image 1" descr="preencoded.png"/>
          <p:cNvPicPr>
            <a:picLocks noChangeAspect="1"/>
          </p:cNvPicPr>
          <p:nvPr/>
        </p:nvPicPr>
        <p:blipFill>
          <a:blip r:embed="rId4"/>
          <a:stretch>
            <a:fillRect/>
          </a:stretch>
        </p:blipFill>
        <p:spPr>
          <a:xfrm>
            <a:off x="686038" y="3895963"/>
            <a:ext cx="980122" cy="1443157"/>
          </a:xfrm>
          <a:prstGeom prst="rect">
            <a:avLst/>
          </a:prstGeom>
        </p:spPr>
      </p:pic>
      <p:sp>
        <p:nvSpPr>
          <p:cNvPr id="5" name="Text 1"/>
          <p:cNvSpPr/>
          <p:nvPr/>
        </p:nvSpPr>
        <p:spPr>
          <a:xfrm>
            <a:off x="1960126" y="4091940"/>
            <a:ext cx="2450663" cy="306229"/>
          </a:xfrm>
          <a:prstGeom prst="rect">
            <a:avLst/>
          </a:prstGeom>
          <a:noFill/>
          <a:ln/>
        </p:spPr>
        <p:txBody>
          <a:bodyPr wrap="none" lIns="0" tIns="0" rIns="0" bIns="0" rtlCol="0" anchor="t"/>
          <a:lstStyle/>
          <a:p>
            <a:pPr marL="0" indent="0" algn="l">
              <a:lnSpc>
                <a:spcPts val="2400"/>
              </a:lnSpc>
              <a:buNone/>
            </a:pPr>
            <a:r>
              <a:rPr lang="en-US" sz="1900" dirty="0">
                <a:solidFill>
                  <a:srgbClr val="2C2821"/>
                </a:solidFill>
                <a:latin typeface="Alice" pitchFamily="34" charset="0"/>
                <a:ea typeface="Alice" pitchFamily="34" charset="-122"/>
                <a:cs typeface="Alice" pitchFamily="34" charset="-120"/>
              </a:rPr>
              <a:t>Alpha Blending (α=0.8)</a:t>
            </a:r>
            <a:endParaRPr lang="en-US" sz="1900" dirty="0"/>
          </a:p>
        </p:txBody>
      </p:sp>
      <p:sp>
        <p:nvSpPr>
          <p:cNvPr id="6" name="Text 2"/>
          <p:cNvSpPr/>
          <p:nvPr/>
        </p:nvSpPr>
        <p:spPr>
          <a:xfrm>
            <a:off x="1960126" y="4515683"/>
            <a:ext cx="11984236" cy="627459"/>
          </a:xfrm>
          <a:prstGeom prst="rect">
            <a:avLst/>
          </a:prstGeom>
          <a:noFill/>
          <a:ln/>
        </p:spPr>
        <p:txBody>
          <a:bodyPr wrap="square" lIns="0" tIns="0" rIns="0" bIns="0" rtlCol="0" anchor="t"/>
          <a:lstStyle/>
          <a:p>
            <a:pPr marL="0" indent="0" algn="l">
              <a:lnSpc>
                <a:spcPts val="2450"/>
              </a:lnSpc>
              <a:buNone/>
            </a:pPr>
            <a:r>
              <a:rPr lang="en-US" sz="1500" dirty="0">
                <a:solidFill>
                  <a:srgbClr val="2C2821"/>
                </a:solidFill>
                <a:latin typeface="Lora" pitchFamily="34" charset="0"/>
                <a:ea typeface="Lora" pitchFamily="34" charset="-122"/>
                <a:cs typeface="Lora" pitchFamily="34" charset="-120"/>
              </a:rPr>
              <a:t>80% of the pixel values come from the pasted object, and 20% come from the target image background, creating a natural transition.</a:t>
            </a:r>
            <a:endParaRPr lang="en-US" sz="1500" dirty="0"/>
          </a:p>
        </p:txBody>
      </p:sp>
      <p:pic>
        <p:nvPicPr>
          <p:cNvPr id="7" name="Image 2" descr="preencoded.png"/>
          <p:cNvPicPr>
            <a:picLocks noChangeAspect="1"/>
          </p:cNvPicPr>
          <p:nvPr/>
        </p:nvPicPr>
        <p:blipFill>
          <a:blip r:embed="rId5"/>
          <a:stretch>
            <a:fillRect/>
          </a:stretch>
        </p:blipFill>
        <p:spPr>
          <a:xfrm>
            <a:off x="686038" y="5339120"/>
            <a:ext cx="980122" cy="1176218"/>
          </a:xfrm>
          <a:prstGeom prst="rect">
            <a:avLst/>
          </a:prstGeom>
        </p:spPr>
      </p:pic>
      <p:sp>
        <p:nvSpPr>
          <p:cNvPr id="8" name="Text 3"/>
          <p:cNvSpPr/>
          <p:nvPr/>
        </p:nvSpPr>
        <p:spPr>
          <a:xfrm>
            <a:off x="1960126" y="5535097"/>
            <a:ext cx="2450425" cy="306229"/>
          </a:xfrm>
          <a:prstGeom prst="rect">
            <a:avLst/>
          </a:prstGeom>
          <a:noFill/>
          <a:ln/>
        </p:spPr>
        <p:txBody>
          <a:bodyPr wrap="none" lIns="0" tIns="0" rIns="0" bIns="0" rtlCol="0" anchor="t"/>
          <a:lstStyle/>
          <a:p>
            <a:pPr marL="0" indent="0" algn="l">
              <a:lnSpc>
                <a:spcPts val="2400"/>
              </a:lnSpc>
              <a:buNone/>
            </a:pPr>
            <a:r>
              <a:rPr lang="en-US" sz="1900" dirty="0">
                <a:solidFill>
                  <a:srgbClr val="2C2821"/>
                </a:solidFill>
                <a:latin typeface="Alice" pitchFamily="34" charset="0"/>
                <a:ea typeface="Alice" pitchFamily="34" charset="-122"/>
                <a:cs typeface="Alice" pitchFamily="34" charset="-120"/>
              </a:rPr>
              <a:t>Overlap Prevention</a:t>
            </a:r>
            <a:endParaRPr lang="en-US" sz="1900" dirty="0"/>
          </a:p>
        </p:txBody>
      </p:sp>
      <p:sp>
        <p:nvSpPr>
          <p:cNvPr id="9" name="Text 4"/>
          <p:cNvSpPr/>
          <p:nvPr/>
        </p:nvSpPr>
        <p:spPr>
          <a:xfrm>
            <a:off x="1960126" y="5958840"/>
            <a:ext cx="11984236" cy="313730"/>
          </a:xfrm>
          <a:prstGeom prst="rect">
            <a:avLst/>
          </a:prstGeom>
          <a:noFill/>
          <a:ln/>
        </p:spPr>
        <p:txBody>
          <a:bodyPr wrap="none" lIns="0" tIns="0" rIns="0" bIns="0" rtlCol="0" anchor="t"/>
          <a:lstStyle/>
          <a:p>
            <a:pPr marL="0" indent="0" algn="l">
              <a:lnSpc>
                <a:spcPts val="2450"/>
              </a:lnSpc>
              <a:buNone/>
            </a:pPr>
            <a:r>
              <a:rPr lang="en-US" sz="1500" dirty="0">
                <a:solidFill>
                  <a:srgbClr val="2C2821"/>
                </a:solidFill>
                <a:latin typeface="Lora" pitchFamily="34" charset="0"/>
                <a:ea typeface="Lora" pitchFamily="34" charset="-122"/>
                <a:cs typeface="Lora" pitchFamily="34" charset="-120"/>
              </a:rPr>
              <a:t>The algorithm actively checks for overlaps before placing objects, preventing unrealistic scenarios.</a:t>
            </a:r>
            <a:endParaRPr lang="en-US" sz="1500" dirty="0"/>
          </a:p>
        </p:txBody>
      </p:sp>
      <p:pic>
        <p:nvPicPr>
          <p:cNvPr id="10" name="Image 3" descr="preencoded.png"/>
          <p:cNvPicPr>
            <a:picLocks noChangeAspect="1"/>
          </p:cNvPicPr>
          <p:nvPr/>
        </p:nvPicPr>
        <p:blipFill>
          <a:blip r:embed="rId6"/>
          <a:stretch>
            <a:fillRect/>
          </a:stretch>
        </p:blipFill>
        <p:spPr>
          <a:xfrm>
            <a:off x="686038" y="6515338"/>
            <a:ext cx="980122" cy="1176218"/>
          </a:xfrm>
          <a:prstGeom prst="rect">
            <a:avLst/>
          </a:prstGeom>
        </p:spPr>
      </p:pic>
      <p:sp>
        <p:nvSpPr>
          <p:cNvPr id="11" name="Text 5"/>
          <p:cNvSpPr/>
          <p:nvPr/>
        </p:nvSpPr>
        <p:spPr>
          <a:xfrm>
            <a:off x="1960126" y="6711315"/>
            <a:ext cx="3220879" cy="306229"/>
          </a:xfrm>
          <a:prstGeom prst="rect">
            <a:avLst/>
          </a:prstGeom>
          <a:noFill/>
          <a:ln/>
        </p:spPr>
        <p:txBody>
          <a:bodyPr wrap="none" lIns="0" tIns="0" rIns="0" bIns="0" rtlCol="0" anchor="t"/>
          <a:lstStyle/>
          <a:p>
            <a:pPr marL="0" indent="0" algn="l">
              <a:lnSpc>
                <a:spcPts val="2400"/>
              </a:lnSpc>
              <a:buNone/>
            </a:pPr>
            <a:r>
              <a:rPr lang="en-US" sz="1900" dirty="0">
                <a:solidFill>
                  <a:srgbClr val="2C2821"/>
                </a:solidFill>
                <a:latin typeface="Alice" pitchFamily="34" charset="0"/>
                <a:ea typeface="Alice" pitchFamily="34" charset="-122"/>
                <a:cs typeface="Alice" pitchFamily="34" charset="-120"/>
              </a:rPr>
              <a:t>Selective Class Augmentation</a:t>
            </a:r>
            <a:endParaRPr lang="en-US" sz="1900" dirty="0"/>
          </a:p>
        </p:txBody>
      </p:sp>
      <p:sp>
        <p:nvSpPr>
          <p:cNvPr id="12" name="Text 6"/>
          <p:cNvSpPr/>
          <p:nvPr/>
        </p:nvSpPr>
        <p:spPr>
          <a:xfrm>
            <a:off x="1960126" y="7135058"/>
            <a:ext cx="11984236" cy="313730"/>
          </a:xfrm>
          <a:prstGeom prst="rect">
            <a:avLst/>
          </a:prstGeom>
          <a:noFill/>
          <a:ln/>
        </p:spPr>
        <p:txBody>
          <a:bodyPr wrap="none" lIns="0" tIns="0" rIns="0" bIns="0" rtlCol="0" anchor="t"/>
          <a:lstStyle/>
          <a:p>
            <a:pPr marL="0" indent="0" algn="l">
              <a:lnSpc>
                <a:spcPts val="2450"/>
              </a:lnSpc>
              <a:buNone/>
            </a:pPr>
            <a:r>
              <a:rPr lang="en-US" sz="1500" dirty="0">
                <a:solidFill>
                  <a:srgbClr val="2C2821"/>
                </a:solidFill>
                <a:latin typeface="Lora" pitchFamily="34" charset="0"/>
                <a:ea typeface="Lora" pitchFamily="34" charset="-122"/>
                <a:cs typeface="Lora" pitchFamily="34" charset="-120"/>
              </a:rPr>
              <a:t>The implementation specifically focuses on augmenting non-class 0 objects, addressing class imbalance issues.</a:t>
            </a:r>
            <a:endParaRPr lang="en-US" sz="1500" dirty="0"/>
          </a:p>
        </p:txBody>
      </p:sp>
      <p:sp>
        <p:nvSpPr>
          <p:cNvPr id="13" name="Rectangle 12">
            <a:extLst>
              <a:ext uri="{FF2B5EF4-FFF2-40B4-BE49-F238E27FC236}">
                <a16:creationId xmlns:a16="http://schemas.microsoft.com/office/drawing/2014/main" id="{FF2A66A6-5DB1-2EFA-9E4C-FDFEABF8FE00}"/>
              </a:ext>
            </a:extLst>
          </p:cNvPr>
          <p:cNvSpPr/>
          <p:nvPr/>
        </p:nvSpPr>
        <p:spPr>
          <a:xfrm>
            <a:off x="12852971" y="7726166"/>
            <a:ext cx="1705510" cy="4006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26877"/>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Model Architecture and Training</a:t>
            </a:r>
            <a:endParaRPr lang="en-US" sz="4450" dirty="0"/>
          </a:p>
        </p:txBody>
      </p:sp>
      <p:sp>
        <p:nvSpPr>
          <p:cNvPr id="4" name="Shape 1"/>
          <p:cNvSpPr/>
          <p:nvPr/>
        </p:nvSpPr>
        <p:spPr>
          <a:xfrm>
            <a:off x="793790" y="2484596"/>
            <a:ext cx="3664863" cy="3121462"/>
          </a:xfrm>
          <a:prstGeom prst="roundRect">
            <a:avLst>
              <a:gd name="adj" fmla="val 1090"/>
            </a:avLst>
          </a:prstGeom>
          <a:solidFill>
            <a:srgbClr val="F0EDE6"/>
          </a:solidFill>
          <a:ln/>
        </p:spPr>
      </p:sp>
      <p:sp>
        <p:nvSpPr>
          <p:cNvPr id="5" name="Text 2"/>
          <p:cNvSpPr/>
          <p:nvPr/>
        </p:nvSpPr>
        <p:spPr>
          <a:xfrm>
            <a:off x="1020604" y="27114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YOLOv8 Architecture</a:t>
            </a:r>
            <a:endParaRPr lang="en-US" sz="2200" dirty="0"/>
          </a:p>
        </p:txBody>
      </p:sp>
      <p:sp>
        <p:nvSpPr>
          <p:cNvPr id="6" name="Text 3"/>
          <p:cNvSpPr/>
          <p:nvPr/>
        </p:nvSpPr>
        <p:spPr>
          <a:xfrm>
            <a:off x="1020604" y="3201829"/>
            <a:ext cx="3211235" cy="217741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YOLOv8 offers single-stage detection, feature pyramid network, anchor-free detection, advanced loss functions, and an optimized backbone.</a:t>
            </a:r>
            <a:endParaRPr lang="en-US" sz="1750" dirty="0"/>
          </a:p>
        </p:txBody>
      </p:sp>
      <p:sp>
        <p:nvSpPr>
          <p:cNvPr id="7" name="Shape 4"/>
          <p:cNvSpPr/>
          <p:nvPr/>
        </p:nvSpPr>
        <p:spPr>
          <a:xfrm>
            <a:off x="4685467" y="2484596"/>
            <a:ext cx="3664863" cy="3121462"/>
          </a:xfrm>
          <a:prstGeom prst="roundRect">
            <a:avLst>
              <a:gd name="adj" fmla="val 1090"/>
            </a:avLst>
          </a:prstGeom>
          <a:solidFill>
            <a:srgbClr val="F0EDE6"/>
          </a:solidFill>
          <a:ln/>
        </p:spPr>
      </p:sp>
      <p:sp>
        <p:nvSpPr>
          <p:cNvPr id="8" name="Text 5"/>
          <p:cNvSpPr/>
          <p:nvPr/>
        </p:nvSpPr>
        <p:spPr>
          <a:xfrm>
            <a:off x="4912281" y="27114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Training Process</a:t>
            </a:r>
            <a:endParaRPr lang="en-US" sz="2200" dirty="0"/>
          </a:p>
        </p:txBody>
      </p:sp>
      <p:sp>
        <p:nvSpPr>
          <p:cNvPr id="9" name="Text 6"/>
          <p:cNvSpPr/>
          <p:nvPr/>
        </p:nvSpPr>
        <p:spPr>
          <a:xfrm>
            <a:off x="4912281" y="3201829"/>
            <a:ext cx="3211235" cy="217741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Typical YOLOv8 training involves transfer learning, batch normalization, data augmentation, learning rate scheduling, and early stopping.</a:t>
            </a:r>
            <a:endParaRPr lang="en-US" sz="1750" dirty="0"/>
          </a:p>
        </p:txBody>
      </p:sp>
      <p:sp>
        <p:nvSpPr>
          <p:cNvPr id="10" name="Shape 7"/>
          <p:cNvSpPr/>
          <p:nvPr/>
        </p:nvSpPr>
        <p:spPr>
          <a:xfrm>
            <a:off x="793790" y="5832872"/>
            <a:ext cx="7556421" cy="1669852"/>
          </a:xfrm>
          <a:prstGeom prst="roundRect">
            <a:avLst>
              <a:gd name="adj" fmla="val 2038"/>
            </a:avLst>
          </a:prstGeom>
          <a:solidFill>
            <a:srgbClr val="F0EDE6"/>
          </a:solidFill>
          <a:ln/>
        </p:spPr>
      </p:sp>
      <p:sp>
        <p:nvSpPr>
          <p:cNvPr id="11" name="Text 8"/>
          <p:cNvSpPr/>
          <p:nvPr/>
        </p:nvSpPr>
        <p:spPr>
          <a:xfrm>
            <a:off x="1020604" y="6059686"/>
            <a:ext cx="4112300"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Hyperparameter Considerations</a:t>
            </a:r>
            <a:endParaRPr lang="en-US" sz="2200" dirty="0"/>
          </a:p>
        </p:txBody>
      </p:sp>
      <p:sp>
        <p:nvSpPr>
          <p:cNvPr id="12" name="Text 9"/>
          <p:cNvSpPr/>
          <p:nvPr/>
        </p:nvSpPr>
        <p:spPr>
          <a:xfrm>
            <a:off x="1020604" y="6550104"/>
            <a:ext cx="7102793"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A confidence threshold of 0.001 was used during evaluation, prioritizing recall and comprehensive mAP calculation.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1616" y="610076"/>
            <a:ext cx="7030760" cy="692110"/>
          </a:xfrm>
          <a:prstGeom prst="rect">
            <a:avLst/>
          </a:prstGeom>
          <a:noFill/>
          <a:ln/>
        </p:spPr>
        <p:txBody>
          <a:bodyPr wrap="none" lIns="0" tIns="0" rIns="0" bIns="0" rtlCol="0" anchor="t"/>
          <a:lstStyle/>
          <a:p>
            <a:pPr marL="0" indent="0" algn="l">
              <a:lnSpc>
                <a:spcPts val="5450"/>
              </a:lnSpc>
              <a:buNone/>
            </a:pPr>
            <a:r>
              <a:rPr lang="en-US" sz="4350" dirty="0">
                <a:solidFill>
                  <a:srgbClr val="233E32"/>
                </a:solidFill>
                <a:latin typeface="Alice" pitchFamily="34" charset="0"/>
                <a:ea typeface="Alice" pitchFamily="34" charset="-122"/>
                <a:cs typeface="Alice" pitchFamily="34" charset="-120"/>
              </a:rPr>
              <a:t>Model Performance Analysis</a:t>
            </a:r>
            <a:endParaRPr lang="en-US" sz="4350" dirty="0"/>
          </a:p>
        </p:txBody>
      </p:sp>
      <p:sp>
        <p:nvSpPr>
          <p:cNvPr id="4" name="Text 1"/>
          <p:cNvSpPr/>
          <p:nvPr/>
        </p:nvSpPr>
        <p:spPr>
          <a:xfrm>
            <a:off x="6261616" y="1745099"/>
            <a:ext cx="3630692" cy="730925"/>
          </a:xfrm>
          <a:prstGeom prst="rect">
            <a:avLst/>
          </a:prstGeom>
          <a:noFill/>
          <a:ln/>
        </p:spPr>
        <p:txBody>
          <a:bodyPr wrap="none" lIns="0" tIns="0" rIns="0" bIns="0" rtlCol="0" anchor="t"/>
          <a:lstStyle/>
          <a:p>
            <a:pPr marL="0" indent="0" algn="ctr">
              <a:lnSpc>
                <a:spcPts val="5750"/>
              </a:lnSpc>
              <a:buNone/>
            </a:pPr>
            <a:r>
              <a:rPr lang="en-US" sz="5750" dirty="0">
                <a:solidFill>
                  <a:srgbClr val="2C2821"/>
                </a:solidFill>
                <a:latin typeface="Alice" pitchFamily="34" charset="0"/>
                <a:ea typeface="Alice" pitchFamily="34" charset="-122"/>
                <a:cs typeface="Alice" pitchFamily="34" charset="-120"/>
              </a:rPr>
              <a:t>82%</a:t>
            </a:r>
            <a:endParaRPr lang="en-US" sz="5750" dirty="0"/>
          </a:p>
        </p:txBody>
      </p:sp>
      <p:sp>
        <p:nvSpPr>
          <p:cNvPr id="5" name="Text 2"/>
          <p:cNvSpPr/>
          <p:nvPr/>
        </p:nvSpPr>
        <p:spPr>
          <a:xfrm>
            <a:off x="6692622" y="2752844"/>
            <a:ext cx="2768679" cy="345996"/>
          </a:xfrm>
          <a:prstGeom prst="rect">
            <a:avLst/>
          </a:prstGeom>
          <a:noFill/>
          <a:ln/>
        </p:spPr>
        <p:txBody>
          <a:bodyPr wrap="none" lIns="0" tIns="0" rIns="0" bIns="0" rtlCol="0" anchor="t"/>
          <a:lstStyle/>
          <a:p>
            <a:pPr marL="0" indent="0" algn="ctr">
              <a:lnSpc>
                <a:spcPts val="2700"/>
              </a:lnSpc>
              <a:buNone/>
            </a:pPr>
            <a:r>
              <a:rPr lang="en-US" sz="2150" dirty="0">
                <a:solidFill>
                  <a:srgbClr val="2C2821"/>
                </a:solidFill>
                <a:latin typeface="Alice" pitchFamily="34" charset="0"/>
                <a:ea typeface="Alice" pitchFamily="34" charset="-122"/>
                <a:cs typeface="Alice" pitchFamily="34" charset="-120"/>
              </a:rPr>
              <a:t>Precision</a:t>
            </a:r>
            <a:endParaRPr lang="en-US" sz="2150" dirty="0"/>
          </a:p>
        </p:txBody>
      </p:sp>
      <p:sp>
        <p:nvSpPr>
          <p:cNvPr id="6" name="Text 3"/>
          <p:cNvSpPr/>
          <p:nvPr/>
        </p:nvSpPr>
        <p:spPr>
          <a:xfrm>
            <a:off x="6261616" y="3231713"/>
            <a:ext cx="3630692" cy="708660"/>
          </a:xfrm>
          <a:prstGeom prst="rect">
            <a:avLst/>
          </a:prstGeom>
          <a:noFill/>
          <a:ln/>
        </p:spPr>
        <p:txBody>
          <a:bodyPr wrap="square" lIns="0" tIns="0" rIns="0" bIns="0" rtlCol="0" anchor="t"/>
          <a:lstStyle/>
          <a:p>
            <a:pPr marL="0" indent="0" algn="ctr">
              <a:lnSpc>
                <a:spcPts val="2750"/>
              </a:lnSpc>
              <a:buNone/>
            </a:pPr>
            <a:r>
              <a:rPr lang="en-US" sz="1700" dirty="0">
                <a:solidFill>
                  <a:srgbClr val="2C2821"/>
                </a:solidFill>
                <a:latin typeface="Lora" pitchFamily="34" charset="0"/>
                <a:ea typeface="Lora" pitchFamily="34" charset="-122"/>
                <a:cs typeface="Lora" pitchFamily="34" charset="-120"/>
              </a:rPr>
              <a:t>Approximately 82% of the model's detections are correct.</a:t>
            </a:r>
            <a:endParaRPr lang="en-US" sz="1700" dirty="0"/>
          </a:p>
        </p:txBody>
      </p:sp>
      <p:sp>
        <p:nvSpPr>
          <p:cNvPr id="7" name="Text 4"/>
          <p:cNvSpPr/>
          <p:nvPr/>
        </p:nvSpPr>
        <p:spPr>
          <a:xfrm>
            <a:off x="10224492" y="1745099"/>
            <a:ext cx="3630692" cy="730925"/>
          </a:xfrm>
          <a:prstGeom prst="rect">
            <a:avLst/>
          </a:prstGeom>
          <a:noFill/>
          <a:ln/>
        </p:spPr>
        <p:txBody>
          <a:bodyPr wrap="none" lIns="0" tIns="0" rIns="0" bIns="0" rtlCol="0" anchor="t"/>
          <a:lstStyle/>
          <a:p>
            <a:pPr marL="0" indent="0" algn="ctr">
              <a:lnSpc>
                <a:spcPts val="5750"/>
              </a:lnSpc>
              <a:buNone/>
            </a:pPr>
            <a:r>
              <a:rPr lang="en-US" sz="5750" dirty="0">
                <a:solidFill>
                  <a:srgbClr val="2C2821"/>
                </a:solidFill>
                <a:latin typeface="Alice" pitchFamily="34" charset="0"/>
                <a:ea typeface="Alice" pitchFamily="34" charset="-122"/>
                <a:cs typeface="Alice" pitchFamily="34" charset="-120"/>
              </a:rPr>
              <a:t>73%</a:t>
            </a:r>
            <a:endParaRPr lang="en-US" sz="5750" dirty="0"/>
          </a:p>
        </p:txBody>
      </p:sp>
      <p:sp>
        <p:nvSpPr>
          <p:cNvPr id="8" name="Text 5"/>
          <p:cNvSpPr/>
          <p:nvPr/>
        </p:nvSpPr>
        <p:spPr>
          <a:xfrm>
            <a:off x="10655498" y="2752844"/>
            <a:ext cx="2768679" cy="345996"/>
          </a:xfrm>
          <a:prstGeom prst="rect">
            <a:avLst/>
          </a:prstGeom>
          <a:noFill/>
          <a:ln/>
        </p:spPr>
        <p:txBody>
          <a:bodyPr wrap="none" lIns="0" tIns="0" rIns="0" bIns="0" rtlCol="0" anchor="t"/>
          <a:lstStyle/>
          <a:p>
            <a:pPr marL="0" indent="0" algn="ctr">
              <a:lnSpc>
                <a:spcPts val="2700"/>
              </a:lnSpc>
              <a:buNone/>
            </a:pPr>
            <a:r>
              <a:rPr lang="en-US" sz="2150" dirty="0">
                <a:solidFill>
                  <a:srgbClr val="2C2821"/>
                </a:solidFill>
                <a:latin typeface="Alice" pitchFamily="34" charset="0"/>
                <a:ea typeface="Alice" pitchFamily="34" charset="-122"/>
                <a:cs typeface="Alice" pitchFamily="34" charset="-120"/>
              </a:rPr>
              <a:t>Recall</a:t>
            </a:r>
            <a:endParaRPr lang="en-US" sz="2150" dirty="0"/>
          </a:p>
        </p:txBody>
      </p:sp>
      <p:sp>
        <p:nvSpPr>
          <p:cNvPr id="9" name="Text 6"/>
          <p:cNvSpPr/>
          <p:nvPr/>
        </p:nvSpPr>
        <p:spPr>
          <a:xfrm>
            <a:off x="10224492" y="3231713"/>
            <a:ext cx="3630692" cy="1062990"/>
          </a:xfrm>
          <a:prstGeom prst="rect">
            <a:avLst/>
          </a:prstGeom>
          <a:noFill/>
          <a:ln/>
        </p:spPr>
        <p:txBody>
          <a:bodyPr wrap="square" lIns="0" tIns="0" rIns="0" bIns="0" rtlCol="0" anchor="t"/>
          <a:lstStyle/>
          <a:p>
            <a:pPr marL="0" indent="0" algn="ctr">
              <a:lnSpc>
                <a:spcPts val="2750"/>
              </a:lnSpc>
              <a:buNone/>
            </a:pPr>
            <a:r>
              <a:rPr lang="en-US" sz="1700" dirty="0">
                <a:solidFill>
                  <a:srgbClr val="2C2821"/>
                </a:solidFill>
                <a:latin typeface="Lora" pitchFamily="34" charset="0"/>
                <a:ea typeface="Lora" pitchFamily="34" charset="-122"/>
                <a:cs typeface="Lora" pitchFamily="34" charset="-120"/>
              </a:rPr>
              <a:t>The model detects nearly three-quarters of all vehicles present in the images.</a:t>
            </a:r>
            <a:endParaRPr lang="en-US" sz="1700" dirty="0"/>
          </a:p>
        </p:txBody>
      </p:sp>
      <p:sp>
        <p:nvSpPr>
          <p:cNvPr id="10" name="Text 7"/>
          <p:cNvSpPr/>
          <p:nvPr/>
        </p:nvSpPr>
        <p:spPr>
          <a:xfrm>
            <a:off x="8243054" y="5069800"/>
            <a:ext cx="3630692" cy="730925"/>
          </a:xfrm>
          <a:prstGeom prst="rect">
            <a:avLst/>
          </a:prstGeom>
          <a:noFill/>
          <a:ln/>
        </p:spPr>
        <p:txBody>
          <a:bodyPr wrap="none" lIns="0" tIns="0" rIns="0" bIns="0" rtlCol="0" anchor="t"/>
          <a:lstStyle/>
          <a:p>
            <a:pPr marL="0" indent="0" algn="ctr">
              <a:lnSpc>
                <a:spcPts val="5750"/>
              </a:lnSpc>
              <a:buNone/>
            </a:pPr>
            <a:r>
              <a:rPr lang="en-US" sz="5750" dirty="0">
                <a:solidFill>
                  <a:srgbClr val="2C2821"/>
                </a:solidFill>
                <a:latin typeface="Alice" pitchFamily="34" charset="0"/>
                <a:ea typeface="Alice" pitchFamily="34" charset="-122"/>
                <a:cs typeface="Alice" pitchFamily="34" charset="-120"/>
              </a:rPr>
              <a:t>79%</a:t>
            </a:r>
            <a:endParaRPr lang="en-US" sz="5750" dirty="0"/>
          </a:p>
        </p:txBody>
      </p:sp>
      <p:sp>
        <p:nvSpPr>
          <p:cNvPr id="11" name="Text 8"/>
          <p:cNvSpPr/>
          <p:nvPr/>
        </p:nvSpPr>
        <p:spPr>
          <a:xfrm>
            <a:off x="8674060" y="6077545"/>
            <a:ext cx="2768679" cy="345996"/>
          </a:xfrm>
          <a:prstGeom prst="rect">
            <a:avLst/>
          </a:prstGeom>
          <a:noFill/>
          <a:ln/>
        </p:spPr>
        <p:txBody>
          <a:bodyPr wrap="none" lIns="0" tIns="0" rIns="0" bIns="0" rtlCol="0" anchor="t"/>
          <a:lstStyle/>
          <a:p>
            <a:pPr marL="0" indent="0" algn="ctr">
              <a:lnSpc>
                <a:spcPts val="2700"/>
              </a:lnSpc>
              <a:buNone/>
            </a:pPr>
            <a:r>
              <a:rPr lang="en-US" sz="2150" dirty="0">
                <a:solidFill>
                  <a:srgbClr val="2C2821"/>
                </a:solidFill>
                <a:latin typeface="Alice" pitchFamily="34" charset="0"/>
                <a:ea typeface="Alice" pitchFamily="34" charset="-122"/>
                <a:cs typeface="Alice" pitchFamily="34" charset="-120"/>
              </a:rPr>
              <a:t>mAP@0.5</a:t>
            </a:r>
            <a:endParaRPr lang="en-US" sz="2150" dirty="0"/>
          </a:p>
        </p:txBody>
      </p:sp>
      <p:sp>
        <p:nvSpPr>
          <p:cNvPr id="12" name="Text 9"/>
          <p:cNvSpPr/>
          <p:nvPr/>
        </p:nvSpPr>
        <p:spPr>
          <a:xfrm>
            <a:off x="8243054" y="6556415"/>
            <a:ext cx="3630692" cy="1062990"/>
          </a:xfrm>
          <a:prstGeom prst="rect">
            <a:avLst/>
          </a:prstGeom>
          <a:noFill/>
          <a:ln/>
        </p:spPr>
        <p:txBody>
          <a:bodyPr wrap="square" lIns="0" tIns="0" rIns="0" bIns="0" rtlCol="0" anchor="t"/>
          <a:lstStyle/>
          <a:p>
            <a:pPr marL="0" indent="0" algn="ctr">
              <a:lnSpc>
                <a:spcPts val="2750"/>
              </a:lnSpc>
              <a:buNone/>
            </a:pPr>
            <a:r>
              <a:rPr lang="en-US" sz="1700" dirty="0">
                <a:solidFill>
                  <a:srgbClr val="2C2821"/>
                </a:solidFill>
                <a:latin typeface="Lora" pitchFamily="34" charset="0"/>
                <a:ea typeface="Lora" pitchFamily="34" charset="-122"/>
                <a:cs typeface="Lora" pitchFamily="34" charset="-120"/>
              </a:rPr>
              <a:t>Strong overall detection performance across all vehicle classes.</a:t>
            </a:r>
            <a:endParaRPr lang="en-US" sz="1700" dirty="0"/>
          </a:p>
        </p:txBody>
      </p:sp>
      <p:sp>
        <p:nvSpPr>
          <p:cNvPr id="13" name="Rectangle 12">
            <a:extLst>
              <a:ext uri="{FF2B5EF4-FFF2-40B4-BE49-F238E27FC236}">
                <a16:creationId xmlns:a16="http://schemas.microsoft.com/office/drawing/2014/main" id="{680D2E70-87F8-839D-C495-357938478959}"/>
              </a:ext>
            </a:extLst>
          </p:cNvPr>
          <p:cNvSpPr/>
          <p:nvPr/>
        </p:nvSpPr>
        <p:spPr>
          <a:xfrm>
            <a:off x="12852971" y="7726166"/>
            <a:ext cx="1705510" cy="4006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5115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Inference Application</a:t>
            </a:r>
            <a:endParaRPr lang="en-US" sz="4450" dirty="0"/>
          </a:p>
        </p:txBody>
      </p:sp>
      <p:sp>
        <p:nvSpPr>
          <p:cNvPr id="4" name="Shape 1"/>
          <p:cNvSpPr/>
          <p:nvPr/>
        </p:nvSpPr>
        <p:spPr>
          <a:xfrm>
            <a:off x="1048941" y="1700093"/>
            <a:ext cx="30480" cy="5878235"/>
          </a:xfrm>
          <a:prstGeom prst="roundRect">
            <a:avLst>
              <a:gd name="adj" fmla="val 111628"/>
            </a:avLst>
          </a:prstGeom>
          <a:solidFill>
            <a:srgbClr val="D6D3CC"/>
          </a:solidFill>
          <a:ln/>
        </p:spPr>
      </p:sp>
      <p:sp>
        <p:nvSpPr>
          <p:cNvPr id="5" name="Shape 2"/>
          <p:cNvSpPr/>
          <p:nvPr/>
        </p:nvSpPr>
        <p:spPr>
          <a:xfrm>
            <a:off x="1273612" y="1940004"/>
            <a:ext cx="680442" cy="30480"/>
          </a:xfrm>
          <a:prstGeom prst="roundRect">
            <a:avLst>
              <a:gd name="adj" fmla="val 111628"/>
            </a:avLst>
          </a:prstGeom>
          <a:solidFill>
            <a:srgbClr val="D6D3CC"/>
          </a:solidFill>
          <a:ln/>
        </p:spPr>
      </p:sp>
      <p:sp>
        <p:nvSpPr>
          <p:cNvPr id="6" name="Shape 3"/>
          <p:cNvSpPr/>
          <p:nvPr/>
        </p:nvSpPr>
        <p:spPr>
          <a:xfrm>
            <a:off x="793790" y="1700093"/>
            <a:ext cx="510302" cy="510302"/>
          </a:xfrm>
          <a:prstGeom prst="roundRect">
            <a:avLst>
              <a:gd name="adj" fmla="val 6667"/>
            </a:avLst>
          </a:prstGeom>
          <a:solidFill>
            <a:srgbClr val="F0EDE6"/>
          </a:solidFill>
          <a:ln/>
        </p:spPr>
      </p:sp>
      <p:pic>
        <p:nvPicPr>
          <p:cNvPr id="7" name="Image 1" descr="preencoded.png"/>
          <p:cNvPicPr>
            <a:picLocks noChangeAspect="1"/>
          </p:cNvPicPr>
          <p:nvPr/>
        </p:nvPicPr>
        <p:blipFill>
          <a:blip r:embed="rId4"/>
          <a:stretch>
            <a:fillRect/>
          </a:stretch>
        </p:blipFill>
        <p:spPr>
          <a:xfrm>
            <a:off x="878860" y="1742599"/>
            <a:ext cx="340162" cy="425291"/>
          </a:xfrm>
          <a:prstGeom prst="rect">
            <a:avLst/>
          </a:prstGeom>
        </p:spPr>
      </p:pic>
      <p:sp>
        <p:nvSpPr>
          <p:cNvPr id="8" name="Text 4"/>
          <p:cNvSpPr/>
          <p:nvPr/>
        </p:nvSpPr>
        <p:spPr>
          <a:xfrm>
            <a:off x="2183011" y="17779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Video Processing</a:t>
            </a:r>
            <a:endParaRPr lang="en-US" sz="2200" dirty="0"/>
          </a:p>
        </p:txBody>
      </p:sp>
      <p:sp>
        <p:nvSpPr>
          <p:cNvPr id="9" name="Text 5"/>
          <p:cNvSpPr/>
          <p:nvPr/>
        </p:nvSpPr>
        <p:spPr>
          <a:xfrm>
            <a:off x="2183011" y="2268379"/>
            <a:ext cx="6167199"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Process video files from various sources including live cameras and recorded footage, ensuring compatibility with multiple formats and resolutions.</a:t>
            </a:r>
            <a:endParaRPr lang="en-US" sz="1750" dirty="0"/>
          </a:p>
        </p:txBody>
      </p:sp>
      <p:sp>
        <p:nvSpPr>
          <p:cNvPr id="10" name="Shape 6"/>
          <p:cNvSpPr/>
          <p:nvPr/>
        </p:nvSpPr>
        <p:spPr>
          <a:xfrm>
            <a:off x="1273612" y="4050625"/>
            <a:ext cx="680442" cy="30480"/>
          </a:xfrm>
          <a:prstGeom prst="roundRect">
            <a:avLst>
              <a:gd name="adj" fmla="val 111628"/>
            </a:avLst>
          </a:prstGeom>
          <a:solidFill>
            <a:srgbClr val="D6D3CC"/>
          </a:solidFill>
          <a:ln/>
        </p:spPr>
      </p:sp>
      <p:sp>
        <p:nvSpPr>
          <p:cNvPr id="11" name="Shape 7"/>
          <p:cNvSpPr/>
          <p:nvPr/>
        </p:nvSpPr>
        <p:spPr>
          <a:xfrm>
            <a:off x="793790" y="3810714"/>
            <a:ext cx="510302" cy="510302"/>
          </a:xfrm>
          <a:prstGeom prst="roundRect">
            <a:avLst>
              <a:gd name="adj" fmla="val 6667"/>
            </a:avLst>
          </a:prstGeom>
          <a:solidFill>
            <a:srgbClr val="F0EDE6"/>
          </a:solidFill>
          <a:ln/>
        </p:spPr>
      </p:sp>
      <p:pic>
        <p:nvPicPr>
          <p:cNvPr id="12" name="Image 2" descr="preencoded.png"/>
          <p:cNvPicPr>
            <a:picLocks noChangeAspect="1"/>
          </p:cNvPicPr>
          <p:nvPr/>
        </p:nvPicPr>
        <p:blipFill>
          <a:blip r:embed="rId5"/>
          <a:stretch>
            <a:fillRect/>
          </a:stretch>
        </p:blipFill>
        <p:spPr>
          <a:xfrm>
            <a:off x="878860" y="3853220"/>
            <a:ext cx="340162" cy="425291"/>
          </a:xfrm>
          <a:prstGeom prst="rect">
            <a:avLst/>
          </a:prstGeom>
        </p:spPr>
      </p:pic>
      <p:sp>
        <p:nvSpPr>
          <p:cNvPr id="13" name="Text 8"/>
          <p:cNvSpPr/>
          <p:nvPr/>
        </p:nvSpPr>
        <p:spPr>
          <a:xfrm>
            <a:off x="2183011" y="388858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Visualization</a:t>
            </a:r>
            <a:endParaRPr lang="en-US" sz="2200" dirty="0"/>
          </a:p>
        </p:txBody>
      </p:sp>
      <p:sp>
        <p:nvSpPr>
          <p:cNvPr id="14" name="Text 9"/>
          <p:cNvSpPr/>
          <p:nvPr/>
        </p:nvSpPr>
        <p:spPr>
          <a:xfrm>
            <a:off x="2183011" y="4379000"/>
            <a:ext cx="6167199"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Visualize detections in real-time with bounding boxes and class labels overlaid on the video feed for clear and immediate understanding.</a:t>
            </a:r>
            <a:endParaRPr lang="en-US" sz="1750" dirty="0"/>
          </a:p>
        </p:txBody>
      </p:sp>
      <p:sp>
        <p:nvSpPr>
          <p:cNvPr id="15" name="Shape 10"/>
          <p:cNvSpPr/>
          <p:nvPr/>
        </p:nvSpPr>
        <p:spPr>
          <a:xfrm>
            <a:off x="1273612" y="6161246"/>
            <a:ext cx="680442" cy="30480"/>
          </a:xfrm>
          <a:prstGeom prst="roundRect">
            <a:avLst>
              <a:gd name="adj" fmla="val 111628"/>
            </a:avLst>
          </a:prstGeom>
          <a:solidFill>
            <a:srgbClr val="D6D3CC"/>
          </a:solidFill>
          <a:ln/>
        </p:spPr>
      </p:sp>
      <p:sp>
        <p:nvSpPr>
          <p:cNvPr id="16" name="Shape 11"/>
          <p:cNvSpPr/>
          <p:nvPr/>
        </p:nvSpPr>
        <p:spPr>
          <a:xfrm>
            <a:off x="793790" y="5921335"/>
            <a:ext cx="510302" cy="510302"/>
          </a:xfrm>
          <a:prstGeom prst="roundRect">
            <a:avLst>
              <a:gd name="adj" fmla="val 6667"/>
            </a:avLst>
          </a:prstGeom>
          <a:solidFill>
            <a:srgbClr val="F0EDE6"/>
          </a:solidFill>
          <a:ln/>
        </p:spPr>
      </p:sp>
      <p:pic>
        <p:nvPicPr>
          <p:cNvPr id="17" name="Image 3" descr="preencoded.png"/>
          <p:cNvPicPr>
            <a:picLocks noChangeAspect="1"/>
          </p:cNvPicPr>
          <p:nvPr/>
        </p:nvPicPr>
        <p:blipFill>
          <a:blip r:embed="rId6"/>
          <a:stretch>
            <a:fillRect/>
          </a:stretch>
        </p:blipFill>
        <p:spPr>
          <a:xfrm>
            <a:off x="878860" y="5963841"/>
            <a:ext cx="340162" cy="425291"/>
          </a:xfrm>
          <a:prstGeom prst="rect">
            <a:avLst/>
          </a:prstGeom>
        </p:spPr>
      </p:pic>
      <p:sp>
        <p:nvSpPr>
          <p:cNvPr id="18" name="Text 12"/>
          <p:cNvSpPr/>
          <p:nvPr/>
        </p:nvSpPr>
        <p:spPr>
          <a:xfrm>
            <a:off x="2183011" y="59992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Output Saving</a:t>
            </a:r>
            <a:endParaRPr lang="en-US" sz="2200" dirty="0"/>
          </a:p>
        </p:txBody>
      </p:sp>
      <p:sp>
        <p:nvSpPr>
          <p:cNvPr id="19" name="Text 13"/>
          <p:cNvSpPr/>
          <p:nvPr/>
        </p:nvSpPr>
        <p:spPr>
          <a:xfrm>
            <a:off x="2183011" y="6489621"/>
            <a:ext cx="6167199"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Optionally save output videos with detailed annotations, including timestamps and detection confidence scores, enabling later review and analysis.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5098" y="616863"/>
            <a:ext cx="9329261" cy="700921"/>
          </a:xfrm>
          <a:prstGeom prst="rect">
            <a:avLst/>
          </a:prstGeom>
          <a:noFill/>
          <a:ln/>
        </p:spPr>
        <p:txBody>
          <a:bodyPr wrap="none" lIns="0" tIns="0" rIns="0" bIns="0" rtlCol="0" anchor="t"/>
          <a:lstStyle/>
          <a:p>
            <a:pPr marL="0" indent="0" algn="l">
              <a:lnSpc>
                <a:spcPts val="5500"/>
              </a:lnSpc>
              <a:buNone/>
            </a:pPr>
            <a:r>
              <a:rPr lang="en-US" sz="4400" dirty="0">
                <a:solidFill>
                  <a:srgbClr val="233E32"/>
                </a:solidFill>
                <a:latin typeface="Alice" pitchFamily="34" charset="0"/>
                <a:ea typeface="Alice" pitchFamily="34" charset="-122"/>
                <a:cs typeface="Alice" pitchFamily="34" charset="-120"/>
              </a:rPr>
              <a:t>Technical Limitations and Challenges</a:t>
            </a:r>
            <a:endParaRPr lang="en-US" sz="4400" dirty="0"/>
          </a:p>
        </p:txBody>
      </p:sp>
      <p:sp>
        <p:nvSpPr>
          <p:cNvPr id="3" name="Text 1"/>
          <p:cNvSpPr/>
          <p:nvPr/>
        </p:nvSpPr>
        <p:spPr>
          <a:xfrm>
            <a:off x="1776889" y="3450550"/>
            <a:ext cx="2804160" cy="350401"/>
          </a:xfrm>
          <a:prstGeom prst="rect">
            <a:avLst/>
          </a:prstGeom>
          <a:noFill/>
          <a:ln/>
        </p:spPr>
        <p:txBody>
          <a:bodyPr wrap="none" lIns="0" tIns="0" rIns="0" bIns="0" rtlCol="0" anchor="t"/>
          <a:lstStyle/>
          <a:p>
            <a:pPr marL="0" indent="0" algn="r">
              <a:lnSpc>
                <a:spcPts val="2750"/>
              </a:lnSpc>
              <a:buNone/>
            </a:pPr>
            <a:r>
              <a:rPr lang="en-US" sz="2200" dirty="0">
                <a:solidFill>
                  <a:srgbClr val="2C2821"/>
                </a:solidFill>
                <a:latin typeface="Alice" pitchFamily="34" charset="0"/>
                <a:ea typeface="Alice" pitchFamily="34" charset="-122"/>
                <a:cs typeface="Alice" pitchFamily="34" charset="-120"/>
              </a:rPr>
              <a:t>Data Augmentation</a:t>
            </a:r>
            <a:endParaRPr lang="en-US" sz="2200" dirty="0"/>
          </a:p>
        </p:txBody>
      </p:sp>
      <p:sp>
        <p:nvSpPr>
          <p:cNvPr id="4" name="Text 2"/>
          <p:cNvSpPr/>
          <p:nvPr/>
        </p:nvSpPr>
        <p:spPr>
          <a:xfrm>
            <a:off x="785098" y="3935492"/>
            <a:ext cx="3795951" cy="717709"/>
          </a:xfrm>
          <a:prstGeom prst="rect">
            <a:avLst/>
          </a:prstGeom>
          <a:noFill/>
          <a:ln/>
        </p:spPr>
        <p:txBody>
          <a:bodyPr wrap="square" lIns="0" tIns="0" rIns="0" bIns="0" rtlCol="0" anchor="t"/>
          <a:lstStyle/>
          <a:p>
            <a:pPr marL="0" indent="0" algn="r">
              <a:lnSpc>
                <a:spcPts val="2800"/>
              </a:lnSpc>
              <a:buNone/>
            </a:pPr>
            <a:r>
              <a:rPr lang="en-US" sz="1750" dirty="0">
                <a:solidFill>
                  <a:srgbClr val="2C2821"/>
                </a:solidFill>
                <a:latin typeface="Lora" pitchFamily="34" charset="0"/>
                <a:ea typeface="Lora" pitchFamily="34" charset="-122"/>
                <a:cs typeface="Lora" pitchFamily="34" charset="-120"/>
              </a:rPr>
              <a:t>Placement failures and fixed alpha blending.</a:t>
            </a:r>
            <a:endParaRPr lang="en-US" sz="1750" dirty="0"/>
          </a:p>
        </p:txBody>
      </p:sp>
      <p:pic>
        <p:nvPicPr>
          <p:cNvPr id="5" name="Image 0" descr="preencoded.png"/>
          <p:cNvPicPr>
            <a:picLocks noChangeAspect="1"/>
          </p:cNvPicPr>
          <p:nvPr/>
        </p:nvPicPr>
        <p:blipFill>
          <a:blip r:embed="rId3"/>
          <a:stretch>
            <a:fillRect/>
          </a:stretch>
        </p:blipFill>
        <p:spPr>
          <a:xfrm>
            <a:off x="5029676" y="1766411"/>
            <a:ext cx="4571048" cy="4571048"/>
          </a:xfrm>
          <a:prstGeom prst="rect">
            <a:avLst/>
          </a:prstGeom>
        </p:spPr>
      </p:pic>
      <p:pic>
        <p:nvPicPr>
          <p:cNvPr id="6" name="Image 1" descr="preencoded.png"/>
          <p:cNvPicPr>
            <a:picLocks noChangeAspect="1"/>
          </p:cNvPicPr>
          <p:nvPr/>
        </p:nvPicPr>
        <p:blipFill>
          <a:blip r:embed="rId4"/>
          <a:stretch>
            <a:fillRect/>
          </a:stretch>
        </p:blipFill>
        <p:spPr>
          <a:xfrm>
            <a:off x="5547360" y="3842147"/>
            <a:ext cx="335637" cy="419576"/>
          </a:xfrm>
          <a:prstGeom prst="rect">
            <a:avLst/>
          </a:prstGeom>
        </p:spPr>
      </p:pic>
      <p:sp>
        <p:nvSpPr>
          <p:cNvPr id="7" name="Text 3"/>
          <p:cNvSpPr/>
          <p:nvPr/>
        </p:nvSpPr>
        <p:spPr>
          <a:xfrm>
            <a:off x="9937194" y="2223730"/>
            <a:ext cx="2804160" cy="350401"/>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Model Performance</a:t>
            </a:r>
            <a:endParaRPr lang="en-US" sz="2200" dirty="0"/>
          </a:p>
        </p:txBody>
      </p:sp>
      <p:sp>
        <p:nvSpPr>
          <p:cNvPr id="8" name="Text 4"/>
          <p:cNvSpPr/>
          <p:nvPr/>
        </p:nvSpPr>
        <p:spPr>
          <a:xfrm>
            <a:off x="9937194" y="2708672"/>
            <a:ext cx="3908107" cy="717709"/>
          </a:xfrm>
          <a:prstGeom prst="rect">
            <a:avLst/>
          </a:prstGeom>
          <a:noFill/>
          <a:ln/>
        </p:spPr>
        <p:txBody>
          <a:bodyPr wrap="square" lIns="0" tIns="0" rIns="0" bIns="0" rtlCol="0" anchor="t"/>
          <a:lstStyle/>
          <a:p>
            <a:pPr marL="0" indent="0" algn="l">
              <a:lnSpc>
                <a:spcPts val="2800"/>
              </a:lnSpc>
              <a:buNone/>
            </a:pPr>
            <a:r>
              <a:rPr lang="en-US" sz="1750" dirty="0">
                <a:solidFill>
                  <a:srgbClr val="2C2821"/>
                </a:solidFill>
                <a:latin typeface="Lora" pitchFamily="34" charset="0"/>
                <a:ea typeface="Lora" pitchFamily="34" charset="-122"/>
                <a:cs typeface="Lora" pitchFamily="34" charset="-120"/>
              </a:rPr>
              <a:t>Precision-recall trade-off and localization precision.</a:t>
            </a:r>
            <a:endParaRPr lang="en-US" sz="1750" dirty="0"/>
          </a:p>
        </p:txBody>
      </p:sp>
      <p:pic>
        <p:nvPicPr>
          <p:cNvPr id="9" name="Image 2" descr="preencoded.png"/>
          <p:cNvPicPr>
            <a:picLocks noChangeAspect="1"/>
          </p:cNvPicPr>
          <p:nvPr/>
        </p:nvPicPr>
        <p:blipFill>
          <a:blip r:embed="rId5"/>
          <a:stretch>
            <a:fillRect/>
          </a:stretch>
        </p:blipFill>
        <p:spPr>
          <a:xfrm>
            <a:off x="5029676" y="1766411"/>
            <a:ext cx="4571048" cy="4571048"/>
          </a:xfrm>
          <a:prstGeom prst="rect">
            <a:avLst/>
          </a:prstGeom>
        </p:spPr>
      </p:pic>
      <p:pic>
        <p:nvPicPr>
          <p:cNvPr id="10" name="Image 3" descr="preencoded.png"/>
          <p:cNvPicPr>
            <a:picLocks noChangeAspect="1"/>
          </p:cNvPicPr>
          <p:nvPr/>
        </p:nvPicPr>
        <p:blipFill>
          <a:blip r:embed="rId6"/>
          <a:stretch>
            <a:fillRect/>
          </a:stretch>
        </p:blipFill>
        <p:spPr>
          <a:xfrm>
            <a:off x="7947184" y="2456617"/>
            <a:ext cx="335637" cy="419576"/>
          </a:xfrm>
          <a:prstGeom prst="rect">
            <a:avLst/>
          </a:prstGeom>
        </p:spPr>
      </p:pic>
      <p:sp>
        <p:nvSpPr>
          <p:cNvPr id="11" name="Text 5"/>
          <p:cNvSpPr/>
          <p:nvPr/>
        </p:nvSpPr>
        <p:spPr>
          <a:xfrm>
            <a:off x="9937194" y="4677489"/>
            <a:ext cx="2804160" cy="350401"/>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Implementation</a:t>
            </a:r>
            <a:endParaRPr lang="en-US" sz="2200" dirty="0"/>
          </a:p>
        </p:txBody>
      </p:sp>
      <p:sp>
        <p:nvSpPr>
          <p:cNvPr id="12" name="Text 6"/>
          <p:cNvSpPr/>
          <p:nvPr/>
        </p:nvSpPr>
        <p:spPr>
          <a:xfrm>
            <a:off x="9937194" y="5162431"/>
            <a:ext cx="3908107" cy="717709"/>
          </a:xfrm>
          <a:prstGeom prst="rect">
            <a:avLst/>
          </a:prstGeom>
          <a:noFill/>
          <a:ln/>
        </p:spPr>
        <p:txBody>
          <a:bodyPr wrap="square" lIns="0" tIns="0" rIns="0" bIns="0" rtlCol="0" anchor="t"/>
          <a:lstStyle/>
          <a:p>
            <a:pPr marL="0" indent="0" algn="l">
              <a:lnSpc>
                <a:spcPts val="2800"/>
              </a:lnSpc>
              <a:buNone/>
            </a:pPr>
            <a:r>
              <a:rPr lang="en-US" sz="1750" dirty="0">
                <a:solidFill>
                  <a:srgbClr val="2C2821"/>
                </a:solidFill>
                <a:latin typeface="Lora" pitchFamily="34" charset="0"/>
                <a:ea typeface="Lora" pitchFamily="34" charset="-122"/>
                <a:cs typeface="Lora" pitchFamily="34" charset="-120"/>
              </a:rPr>
              <a:t>Hardcoded parameters and limited error handling.</a:t>
            </a:r>
            <a:endParaRPr lang="en-US" sz="1750" dirty="0"/>
          </a:p>
        </p:txBody>
      </p:sp>
      <p:pic>
        <p:nvPicPr>
          <p:cNvPr id="13" name="Image 4" descr="preencoded.png"/>
          <p:cNvPicPr>
            <a:picLocks noChangeAspect="1"/>
          </p:cNvPicPr>
          <p:nvPr/>
        </p:nvPicPr>
        <p:blipFill>
          <a:blip r:embed="rId7"/>
          <a:stretch>
            <a:fillRect/>
          </a:stretch>
        </p:blipFill>
        <p:spPr>
          <a:xfrm>
            <a:off x="5029676" y="1766411"/>
            <a:ext cx="4571048" cy="4571048"/>
          </a:xfrm>
          <a:prstGeom prst="rect">
            <a:avLst/>
          </a:prstGeom>
        </p:spPr>
      </p:pic>
      <p:pic>
        <p:nvPicPr>
          <p:cNvPr id="14" name="Image 5" descr="preencoded.png"/>
          <p:cNvPicPr>
            <a:picLocks noChangeAspect="1"/>
          </p:cNvPicPr>
          <p:nvPr/>
        </p:nvPicPr>
        <p:blipFill>
          <a:blip r:embed="rId8"/>
          <a:stretch>
            <a:fillRect/>
          </a:stretch>
        </p:blipFill>
        <p:spPr>
          <a:xfrm>
            <a:off x="7947184" y="5227558"/>
            <a:ext cx="335637" cy="419576"/>
          </a:xfrm>
          <a:prstGeom prst="rect">
            <a:avLst/>
          </a:prstGeom>
        </p:spPr>
      </p:pic>
      <p:sp>
        <p:nvSpPr>
          <p:cNvPr id="15" name="Text 7"/>
          <p:cNvSpPr/>
          <p:nvPr/>
        </p:nvSpPr>
        <p:spPr>
          <a:xfrm>
            <a:off x="785098" y="6589752"/>
            <a:ext cx="13060204" cy="1076563"/>
          </a:xfrm>
          <a:prstGeom prst="rect">
            <a:avLst/>
          </a:prstGeom>
          <a:noFill/>
          <a:ln/>
        </p:spPr>
        <p:txBody>
          <a:bodyPr wrap="square" lIns="0" tIns="0" rIns="0" bIns="0" rtlCol="0" anchor="t"/>
          <a:lstStyle/>
          <a:p>
            <a:pPr marL="0" indent="0" algn="l">
              <a:lnSpc>
                <a:spcPts val="2800"/>
              </a:lnSpc>
              <a:buNone/>
            </a:pPr>
            <a:r>
              <a:rPr lang="en-US" sz="1750" dirty="0">
                <a:solidFill>
                  <a:srgbClr val="2C2821"/>
                </a:solidFill>
                <a:latin typeface="Lora" pitchFamily="34" charset="0"/>
                <a:ea typeface="Lora" pitchFamily="34" charset="-122"/>
                <a:cs typeface="Lora" pitchFamily="34" charset="-120"/>
              </a:rPr>
              <a:t>The cut-paste augmentation technique has limitations such as placement failures and fixed alpha blending. The performance metrics reveal challenges such as precision-recall trade-off and localization precision. Several implementation aspects present challenges such as hardcoded parameters and limited error handling.</a:t>
            </a:r>
            <a:endParaRPr lang="en-US" sz="1750" dirty="0"/>
          </a:p>
        </p:txBody>
      </p:sp>
      <p:sp>
        <p:nvSpPr>
          <p:cNvPr id="16" name="Rectangle 15">
            <a:extLst>
              <a:ext uri="{FF2B5EF4-FFF2-40B4-BE49-F238E27FC236}">
                <a16:creationId xmlns:a16="http://schemas.microsoft.com/office/drawing/2014/main" id="{81295551-37DC-14D6-DD7F-635EF586C6A8}"/>
              </a:ext>
            </a:extLst>
          </p:cNvPr>
          <p:cNvSpPr/>
          <p:nvPr/>
        </p:nvSpPr>
        <p:spPr>
          <a:xfrm>
            <a:off x="12852971" y="7726166"/>
            <a:ext cx="1705510" cy="4006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5666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Practical Applications</a:t>
            </a:r>
            <a:endParaRPr lang="en-US" sz="4450" dirty="0"/>
          </a:p>
        </p:txBody>
      </p:sp>
      <p:pic>
        <p:nvPicPr>
          <p:cNvPr id="3" name="Image 0" descr="preencoded.png"/>
          <p:cNvPicPr>
            <a:picLocks noChangeAspect="1"/>
          </p:cNvPicPr>
          <p:nvPr/>
        </p:nvPicPr>
        <p:blipFill>
          <a:blip r:embed="rId3"/>
          <a:stretch>
            <a:fillRect/>
          </a:stretch>
        </p:blipFill>
        <p:spPr>
          <a:xfrm>
            <a:off x="793790" y="3019068"/>
            <a:ext cx="566976" cy="566976"/>
          </a:xfrm>
          <a:prstGeom prst="rect">
            <a:avLst/>
          </a:prstGeom>
        </p:spPr>
      </p:pic>
      <p:sp>
        <p:nvSpPr>
          <p:cNvPr id="4" name="Text 1"/>
          <p:cNvSpPr/>
          <p:nvPr/>
        </p:nvSpPr>
        <p:spPr>
          <a:xfrm>
            <a:off x="793790" y="381285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Traffic Monitoring</a:t>
            </a:r>
            <a:endParaRPr lang="en-US" sz="2200" dirty="0"/>
          </a:p>
        </p:txBody>
      </p:sp>
      <p:sp>
        <p:nvSpPr>
          <p:cNvPr id="5" name="Text 2"/>
          <p:cNvSpPr/>
          <p:nvPr/>
        </p:nvSpPr>
        <p:spPr>
          <a:xfrm>
            <a:off x="793790" y="4303276"/>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Estimating traffic density and analyzing lane occupancy.</a:t>
            </a:r>
            <a:endParaRPr lang="en-US" sz="1750" dirty="0"/>
          </a:p>
        </p:txBody>
      </p:sp>
      <p:pic>
        <p:nvPicPr>
          <p:cNvPr id="6" name="Image 1" descr="preencoded.png"/>
          <p:cNvPicPr>
            <a:picLocks noChangeAspect="1"/>
          </p:cNvPicPr>
          <p:nvPr/>
        </p:nvPicPr>
        <p:blipFill>
          <a:blip r:embed="rId4"/>
          <a:stretch>
            <a:fillRect/>
          </a:stretch>
        </p:blipFill>
        <p:spPr>
          <a:xfrm>
            <a:off x="5235893" y="3019068"/>
            <a:ext cx="566976" cy="566976"/>
          </a:xfrm>
          <a:prstGeom prst="rect">
            <a:avLst/>
          </a:prstGeom>
        </p:spPr>
      </p:pic>
      <p:sp>
        <p:nvSpPr>
          <p:cNvPr id="7" name="Text 3"/>
          <p:cNvSpPr/>
          <p:nvPr/>
        </p:nvSpPr>
        <p:spPr>
          <a:xfrm>
            <a:off x="5235893" y="381285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Smart City</a:t>
            </a:r>
            <a:endParaRPr lang="en-US" sz="2200" dirty="0"/>
          </a:p>
        </p:txBody>
      </p:sp>
      <p:sp>
        <p:nvSpPr>
          <p:cNvPr id="8" name="Text 4"/>
          <p:cNvSpPr/>
          <p:nvPr/>
        </p:nvSpPr>
        <p:spPr>
          <a:xfrm>
            <a:off x="5235893" y="4303276"/>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Optimizing traffic signals and managing parking.</a:t>
            </a:r>
            <a:endParaRPr lang="en-US" sz="1750" dirty="0"/>
          </a:p>
        </p:txBody>
      </p:sp>
      <p:pic>
        <p:nvPicPr>
          <p:cNvPr id="9" name="Image 2" descr="preencoded.png"/>
          <p:cNvPicPr>
            <a:picLocks noChangeAspect="1"/>
          </p:cNvPicPr>
          <p:nvPr/>
        </p:nvPicPr>
        <p:blipFill>
          <a:blip r:embed="rId5"/>
          <a:stretch>
            <a:fillRect/>
          </a:stretch>
        </p:blipFill>
        <p:spPr>
          <a:xfrm>
            <a:off x="9677995" y="3019068"/>
            <a:ext cx="566976" cy="566976"/>
          </a:xfrm>
          <a:prstGeom prst="rect">
            <a:avLst/>
          </a:prstGeom>
        </p:spPr>
      </p:pic>
      <p:sp>
        <p:nvSpPr>
          <p:cNvPr id="10" name="Text 5"/>
          <p:cNvSpPr/>
          <p:nvPr/>
        </p:nvSpPr>
        <p:spPr>
          <a:xfrm>
            <a:off x="9677995" y="381285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Alice" pitchFamily="34" charset="0"/>
                <a:ea typeface="Alice" pitchFamily="34" charset="-122"/>
                <a:cs typeface="Alice" pitchFamily="34" charset="-120"/>
              </a:rPr>
              <a:t>Security</a:t>
            </a:r>
            <a:endParaRPr lang="en-US" sz="2200" dirty="0"/>
          </a:p>
        </p:txBody>
      </p:sp>
      <p:sp>
        <p:nvSpPr>
          <p:cNvPr id="11" name="Text 6"/>
          <p:cNvSpPr/>
          <p:nvPr/>
        </p:nvSpPr>
        <p:spPr>
          <a:xfrm>
            <a:off x="9677995" y="4303276"/>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Controlling access and detecting unusual activity.</a:t>
            </a:r>
            <a:endParaRPr lang="en-US" sz="1750" dirty="0"/>
          </a:p>
        </p:txBody>
      </p:sp>
      <p:sp>
        <p:nvSpPr>
          <p:cNvPr id="12" name="Text 7"/>
          <p:cNvSpPr/>
          <p:nvPr/>
        </p:nvSpPr>
        <p:spPr>
          <a:xfrm>
            <a:off x="793790" y="5284232"/>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Lora" pitchFamily="34" charset="0"/>
                <a:ea typeface="Lora" pitchFamily="34" charset="-122"/>
                <a:cs typeface="Lora" pitchFamily="34" charset="-120"/>
              </a:rPr>
              <a:t>The vehicle detection system has significant potential for traffic monitoring applications, smart city initiatives, and security contexts. The model's ability to distinguish between vehicle types makes it particularly valuable for comprehensive traffic analysis.</a:t>
            </a:r>
            <a:endParaRPr lang="en-US" sz="1750" dirty="0"/>
          </a:p>
        </p:txBody>
      </p:sp>
      <p:sp>
        <p:nvSpPr>
          <p:cNvPr id="13" name="Rectangle 12">
            <a:extLst>
              <a:ext uri="{FF2B5EF4-FFF2-40B4-BE49-F238E27FC236}">
                <a16:creationId xmlns:a16="http://schemas.microsoft.com/office/drawing/2014/main" id="{6F14A19D-24E4-5E3E-15CF-E6B06E028767}"/>
              </a:ext>
            </a:extLst>
          </p:cNvPr>
          <p:cNvSpPr/>
          <p:nvPr/>
        </p:nvSpPr>
        <p:spPr>
          <a:xfrm>
            <a:off x="12852971" y="7726166"/>
            <a:ext cx="1705510" cy="4006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646</Words>
  <Application>Microsoft Office PowerPoint</Application>
  <PresentationFormat>Custom</PresentationFormat>
  <Paragraphs>70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Lora</vt:lpstr>
      <vt:lpstr>Arial</vt:lpstr>
      <vt:lpstr>Alice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DIVIJ DUDEJA</cp:lastModifiedBy>
  <cp:revision>3</cp:revision>
  <dcterms:created xsi:type="dcterms:W3CDTF">2025-04-29T04:57:31Z</dcterms:created>
  <dcterms:modified xsi:type="dcterms:W3CDTF">2025-04-29T05:00:15Z</dcterms:modified>
</cp:coreProperties>
</file>